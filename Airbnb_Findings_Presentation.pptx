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</c:v>
                </c:pt>
              </c:strCache>
            </c:strRef>
          </c:tx>
          <c:spPr>
            <a:solidFill>
              <a:srgbClr val="FF385C"/>
            </a:solidFill>
            <a:ln w="31750" cap="flat">
              <a:solidFill>
                <a:srgbClr val="FF38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385C"/>
              </a:solidFill>
              <a:ln w="9525" cap="flat">
                <a:solidFill>
                  <a:srgbClr val="FF38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Dec-21</c:v>
                  </c:pt>
                  <c:pt idx="1">
                    <c:v>Feb-22</c:v>
                  </c:pt>
                  <c:pt idx="2">
                    <c:v>Apr-22</c:v>
                  </c:pt>
                  <c:pt idx="3">
                    <c:v>Jun-22</c:v>
                  </c:pt>
                  <c:pt idx="4">
                    <c:v>Aug-22</c:v>
                  </c:pt>
                  <c:pt idx="5">
                    <c:v>Oct-22</c:v>
                  </c:pt>
                  <c:pt idx="6">
                    <c:v>Dec-22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</c:v>
                </c:pt>
                <c:pt idx="1">
                  <c:v>114</c:v>
                </c:pt>
                <c:pt idx="2">
                  <c:v>112</c:v>
                </c:pt>
                <c:pt idx="3">
                  <c:v>110.5</c:v>
                </c:pt>
                <c:pt idx="4">
                  <c:v>109</c:v>
                </c:pt>
                <c:pt idx="5">
                  <c:v>108.5</c:v>
                </c:pt>
                <c:pt idx="6">
                  <c:v>108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Listings</c:v>
                </c:pt>
              </c:strCache>
            </c:strRef>
          </c:tx>
          <c:spPr>
            <a:solidFill>
              <a:srgbClr val="FF38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Entire Home/Apt</c:v>
                  </c:pt>
                  <c:pt idx="1">
                    <c:v>Private Room</c:v>
                  </c:pt>
                  <c:pt idx="2">
                    <c:v>Hotel Room</c:v>
                  </c:pt>
                  <c:pt idx="3">
                    <c:v>Shared Room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1450</c:v>
                </c:pt>
                <c:pt idx="1">
                  <c:v>260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914400"/>
            <a:ext cx="2926080" cy="2926080"/>
          </a:xfrm>
          <a:prstGeom prst="ellipse">
            <a:avLst/>
          </a:prstGeom>
          <a:solidFill>
            <a:srgbClr val="C2284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011680" cy="201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ANTWERP · AIRBNB CAPSTONE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Price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self-service, no-ML Power BI tool for exploring pricing patterns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simulating revenue under adjustable occupancy and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seasonal-pricing assumptions.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623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1,749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080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5623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6080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5623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2021 – Dec 2022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6080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window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OBJECTIVE &amp;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dashboard is, and what it covers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property owners and analysts explore Antwerp Airbnb pricing patterns and simulate revenue under adjustable occupancy and seasonal-pricing assumptions — with no machine learning, fully self-service.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400800" cy="5486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 to keep in view throughout: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covers only 151–209 days per listing, not a full year. Every “revenue” figure in this deck is a projection over the days actually loaded — never a full-year actual.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1737360"/>
            <a:ext cx="420624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0" y="18470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1,749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8470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2834640"/>
            <a:ext cx="420624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2944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0" y="29443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3931920"/>
            <a:ext cx="420624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404164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319,192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418320" y="4041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5029200"/>
            <a:ext cx="420624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5138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62,987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5138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PREPARATION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 schema built from four raw source files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6C5C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DimListing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7830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6C5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DimHost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17830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6C5C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9496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3063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38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6304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FactCalendar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3063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38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0624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FactReview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24231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DimAmenity ↔ Bridge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bridge — each listing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variable amenity list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cleaning decisions that mattered most: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prices were never zero-filled — that would have silently dragged the average down.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“Unavailable” is treated strictly as blocked/unbooked, never as a confirmed booking.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text was case-normalized (“AEG refrigerator” vs “aeg refrigerator” looked identical but weren’t) before deduplication.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SCENARIO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sliders, one fixed reference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10% – 100%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MULTIPLIER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1.00x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0.50x – 1.50x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749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70% × 1.00x.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derived from the data or brief — chosen as a neutral reference point, so every other scenario reads as a clear delta off a fixed line, not a moving target.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Revenue  =  </a:t>
            </a:r>
            <a:pPr algn="ctr" indent="0" marL="0">
              <a:buNone/>
            </a:pPr>
            <a:r>
              <a:rPr lang="en-US" sz="16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 ×  Occupancy  ×  Multiplier</a:t>
            </a:r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(summed over loaded, priced calendar rows)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DASHBOARD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 —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€109.92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61488" y="16916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1216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53.52%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871216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74336" y="16916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1,749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87184" y="16916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€24.55M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REVENUE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00032" y="169164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82880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4.97 yrs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HOST TENURE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trend, Dec 2021 – Dec 2022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361188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6172200" y="3246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mix by room type</a:t>
            </a:r>
            <a:endParaRPr lang="en-US" sz="13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6172200" y="361188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DASHBOARD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 &amp; 3 — Listing Analysis and Scenario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MAP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BI’s Map and Azure Maps visuals are both blocked here by a tenant-level admin restriction — not a build issue. Substituted a scatter chart (Longitude × Latitude) that still correctly traces Antwerp’s shape and listing clusters.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LISTINGS TABLE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Projected Revenue, descending. Top listing: “Zanzibar bedroom in an authentic mansion” — €5,800/night, €702,380 projected revenue at baseline.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2103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60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ONE SLIDER: OCCUPANCY 70% → 80% (MULTIPLIER FIXED AT 1.00X)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€24.55M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projected revenue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€28.06M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5349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projected revenue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2834640" cy="640080"/>
          </a:xfrm>
          <a:prstGeom prst="roundRect">
            <a:avLst>
              <a:gd name="adj" fmla="val 50000"/>
            </a:avLst>
          </a:prstGeom>
          <a:solidFill>
            <a:srgbClr val="0087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46634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+14.29%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calibrated insights, not generic praise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Whole-unit market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Home/Apartment dominates the mix; Private Room is a distant second; Hotel/Shared Room are negligible slivers.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1488" y="1737360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6148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pricing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301752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€109.92 vs. median €79 — a small number of premium listings (up to €5,800/night) pull the average well above what most guests pay.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74336" y="1737360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743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≠ bookings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74336" y="301752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53.52% availability measures open/blocked inventory, not a booking rate — conflating the two overstates how “busy” the market 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87184" y="1737360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8718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87184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visibility gap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87184" y="301752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of 1,749 listings (12.8%) have zero reviews — no social proof for roughly 1 in 8 listings, regardless of price.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00032" y="1737360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0003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400032" y="2331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Partial-year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00032" y="301752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listing has more than 209 of 365 days loaded — every revenue figure is explicitly scoped and labeled as partial-year.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Highest-revenue listing, two scenario moves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“Zanzibar bedroom in an authentic mansion”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 in Townhouse — €5,800/night — the single highest-projected-revenue listing in the dataset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€702,380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occupancy × 1.00x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108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€882,992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occupancy × 1.10x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324612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0087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+25.7%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scenario, not a prediction. It tells you what would happen if 80% occupancy and a 10% premium both held — not that they will. A €5,800/night listing at 80% occupancy is a strong assumption that needs real demand evidence.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concrete actions — owner, move, timeframe, measure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3736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new listings against the €79 median, not the €109.92 average; revisit quarterly.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59689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zero-review hosts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596896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a review-solicitation nudge within 2 stays; check review count at day 90.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02736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5643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planners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45643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3–5 real booking data points before any occupancy-based campaign.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462272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3159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hosts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31596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 1.05–1.10x seasonal multiplier for one peak month; track occupancy weekly for 4 weeks.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AFAFA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321808"/>
            <a:ext cx="457200" cy="457200"/>
          </a:xfrm>
          <a:prstGeom prst="ellipse">
            <a:avLst/>
          </a:prstGeom>
          <a:solidFill>
            <a:srgbClr val="FF38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17550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5175504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calendar extract to a full 365 days per listing in the next refresh cycle.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ASSUMPTIONS &amp; CONCLUSION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not booking — a blocked night is never labeled a confirmed booking.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partial — any full-year figure is an explicitly labeled estimate, never the headline number.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here describe association, not causation.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geographic view is a coordinate scatter, not a tile-based map, due to a tenant-level restriction outside this project’s control.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585216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9319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this dashboard to explore how revenue responds to the assumptions you supply — not to read off one “correct” number. The value is in the sensitivity, not in any single scenario being a forecast.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1051560"/>
            <a:ext cx="4754880" cy="42062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780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737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Antwerp listings, calendar, hosts, and reviews extract — provided as part of the Hero Vired data analytics capstone brief.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320040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70% occupancy × 1.00x — a neutral reference point, not in the data.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(not Adjusted Price) drives every KPI and scenario measure.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submission, single-owner deliverable — no row-level security.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2026-09-25T18:28:11Z</dcterms:created>
  <dcterms:modified xsi:type="dcterms:W3CDTF">2026-09-25T18:28:11Z</dcterms:modified>
</cp:coreProperties>
</file>